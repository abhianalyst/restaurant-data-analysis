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ato Thin"/>
      <p:regular r:id="rId201314"/>
    </p:embeddedFont>
    <p:embeddedFont>
      <p:font typeface="Lato Light"/>
      <p:regular r:id="rId201315"/>
    </p:embeddedFont>
    <p:embeddedFont>
      <p:font typeface="Lato"/>
      <p:regular r:id="rId201316"/>
    </p:embeddedFont>
    <p:embeddedFont>
      <p:font typeface="Lato Bold"/>
      <p:regular r:id="rId201317"/>
    </p:embeddedFont>
    <p:embeddedFont>
      <p:font typeface="Lato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Restaurant Data Analysis Using Python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Python-based exploratory data analysis and business intelligence — Cognifyz Technologies (Data Analysis Internship)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Presented by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Abhinav Kadam — Bachelor of Science in Data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6926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Snapshot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09388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internship project applies Python to restaurant data to extract actionable business intelligence through cleaning, EDA, visualization, geographic mapping, sentiment processing and clustering.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933798"/>
            <a:ext cx="2290465" cy="1497285"/>
          </a:xfrm>
          <a:prstGeom prst="roundRect">
            <a:avLst>
              <a:gd name="adj" fmla="val 1420"/>
            </a:avLst>
          </a:prstGeom>
          <a:solidFill>
            <a:srgbClr val="E5DFD2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075557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Goal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382069"/>
            <a:ext cx="20069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Turn raw restaurant records into strategic recommendations for market expansion and service improvement.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933798"/>
            <a:ext cx="2290539" cy="1497285"/>
          </a:xfrm>
          <a:prstGeom prst="roundRect">
            <a:avLst>
              <a:gd name="adj" fmla="val 1420"/>
            </a:avLst>
          </a:prstGeom>
          <a:solidFill>
            <a:srgbClr val="E5DFD2"/>
          </a:solidFill>
          <a:ln/>
        </p:spPr>
      </p:sp>
      <p:sp>
        <p:nvSpPr>
          <p:cNvPr id="9" name="Text 6"/>
          <p:cNvSpPr/>
          <p:nvPr/>
        </p:nvSpPr>
        <p:spPr>
          <a:xfrm>
            <a:off x="3070101" y="2075557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Audience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2382069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Internship evaluators, faculty, and BI stakeholders.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572842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2" name="Text 9"/>
          <p:cNvSpPr/>
          <p:nvPr/>
        </p:nvSpPr>
        <p:spPr>
          <a:xfrm>
            <a:off x="637877" y="3714601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Approach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4021113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Reproducible Python notebooks, visual storytelling, map-driven insights, and clustering for segmentation.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7138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03835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Workflow visualised: dataset → cleaning → exploratory analysis → layered analytics (Level 1–3) → business insights. Each stage refines data and increases actionability.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878262"/>
            <a:ext cx="4722763" cy="793775"/>
          </a:xfrm>
          <a:prstGeom prst="roundRect">
            <a:avLst>
              <a:gd name="adj" fmla="val 2679"/>
            </a:avLst>
          </a:prstGeom>
          <a:solidFill>
            <a:srgbClr val="E7E7E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07903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055441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compact workflow infographic emphasises iterative validation and inspection at each step.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Technology Stack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637877"/>
            <a:ext cx="177180" cy="17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859334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991270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analysis language — reproducible notebooks.</a:t>
            </a:r>
            <a:endParaRPr lang="en-US" sz="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4101" y="637877"/>
            <a:ext cx="177180" cy="17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4101" y="859334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Pandas &amp; NumPy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594101" y="991270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wrangling, aggregation and numeric transforms.</a:t>
            </a:r>
            <a:endParaRPr lang="en-US" sz="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147167"/>
            <a:ext cx="177180" cy="17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1368623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Matplotlib / Seaborn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96119" y="1500560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Exploratory visualisation and statistical plots.</a:t>
            </a:r>
            <a:endParaRPr lang="en-US" sz="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94101" y="1147167"/>
            <a:ext cx="177180" cy="1771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94101" y="1368623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Plotly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4594101" y="1500560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charts for stakeholder demos.</a:t>
            </a:r>
            <a:endParaRPr lang="en-US" sz="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1656457"/>
            <a:ext cx="177180" cy="1771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1877913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Folium</a:t>
            </a:r>
            <a:endParaRPr lang="en-US" sz="650" dirty="0"/>
          </a:p>
        </p:txBody>
      </p:sp>
      <p:sp>
        <p:nvSpPr>
          <p:cNvPr id="17" name="Text 10"/>
          <p:cNvSpPr/>
          <p:nvPr/>
        </p:nvSpPr>
        <p:spPr>
          <a:xfrm>
            <a:off x="496119" y="2009849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Geographic visualisation with latitude/longitude overlays.</a:t>
            </a:r>
            <a:endParaRPr lang="en-US" sz="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94101" y="1656457"/>
            <a:ext cx="177180" cy="1771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594101" y="1877913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Scikit‑learn</a:t>
            </a:r>
            <a:endParaRPr lang="en-US" sz="650" dirty="0"/>
          </a:p>
        </p:txBody>
      </p:sp>
      <p:sp>
        <p:nvSpPr>
          <p:cNvPr id="20" name="Text 12"/>
          <p:cNvSpPr/>
          <p:nvPr/>
        </p:nvSpPr>
        <p:spPr>
          <a:xfrm>
            <a:off x="4594101" y="2009849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K‑Means clustering and basic model pipelines.</a:t>
            </a:r>
            <a:endParaRPr lang="en-US" sz="5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2165747"/>
            <a:ext cx="177180" cy="1771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119" y="2387203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NLTK &amp; WordCloud</a:t>
            </a:r>
            <a:endParaRPr lang="en-US" sz="650" dirty="0"/>
          </a:p>
        </p:txBody>
      </p:sp>
      <p:sp>
        <p:nvSpPr>
          <p:cNvPr id="23" name="Text 14"/>
          <p:cNvSpPr/>
          <p:nvPr/>
        </p:nvSpPr>
        <p:spPr>
          <a:xfrm>
            <a:off x="496119" y="2519139"/>
            <a:ext cx="40537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Text pre-processing and visual sentiment summaries.</a:t>
            </a:r>
            <a:endParaRPr lang="en-US" sz="5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4101" y="2165747"/>
            <a:ext cx="177180" cy="1771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594101" y="2387203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Jupyter Notebook</a:t>
            </a:r>
            <a:endParaRPr lang="en-US" sz="650" dirty="0"/>
          </a:p>
        </p:txBody>
      </p:sp>
      <p:sp>
        <p:nvSpPr>
          <p:cNvPr id="26" name="Text 16"/>
          <p:cNvSpPr/>
          <p:nvPr/>
        </p:nvSpPr>
        <p:spPr>
          <a:xfrm>
            <a:off x="4594101" y="2519139"/>
            <a:ext cx="40537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Exploration, documentation, and reproducible analysis.</a:t>
            </a:r>
            <a:endParaRPr lang="en-US" sz="550" dirty="0"/>
          </a:p>
        </p:txBody>
      </p:sp>
      <p:sp>
        <p:nvSpPr>
          <p:cNvPr id="27" name="Shape 17"/>
          <p:cNvSpPr/>
          <p:nvPr/>
        </p:nvSpPr>
        <p:spPr>
          <a:xfrm>
            <a:off x="496119" y="2661717"/>
            <a:ext cx="8151763" cy="9525"/>
          </a:xfrm>
          <a:prstGeom prst="roundRect">
            <a:avLst>
              <a:gd name="adj" fmla="val 60000"/>
            </a:avLst>
          </a:prstGeom>
          <a:solidFill>
            <a:srgbClr val="4A4A45">
              <a:alpha val="50000"/>
            </a:srgbClr>
          </a:solidFill>
          <a:ln/>
        </p:spPr>
      </p:sp>
      <p:sp>
        <p:nvSpPr>
          <p:cNvPr id="28" name="Text 18"/>
          <p:cNvSpPr/>
          <p:nvPr/>
        </p:nvSpPr>
        <p:spPr>
          <a:xfrm>
            <a:off x="496119" y="2742084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Process Flow</a:t>
            </a:r>
            <a:endParaRPr lang="en-US" sz="6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641" y="2905944"/>
            <a:ext cx="7890644" cy="296093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002209" y="5148085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Level 2</a:t>
            </a:r>
            <a:endParaRPr lang="en-US" sz="1400" dirty="0"/>
          </a:p>
        </p:txBody>
      </p:sp>
      <p:sp>
        <p:nvSpPr>
          <p:cNvPr id="31" name="Text 20"/>
          <p:cNvSpPr/>
          <p:nvPr/>
        </p:nvSpPr>
        <p:spPr>
          <a:xfrm>
            <a:off x="5502299" y="514808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Level 1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4010540" y="514808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EDA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2518781" y="514808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Cleaning</a:t>
            </a:r>
            <a:endParaRPr lang="en-US" sz="1400" dirty="0"/>
          </a:p>
        </p:txBody>
      </p:sp>
      <p:sp>
        <p:nvSpPr>
          <p:cNvPr id="34" name="Text 23"/>
          <p:cNvSpPr/>
          <p:nvPr/>
        </p:nvSpPr>
        <p:spPr>
          <a:xfrm>
            <a:off x="994415" y="5148085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</a:t>
            </a:r>
            <a:endParaRPr lang="en-US" sz="1400" dirty="0"/>
          </a:p>
        </p:txBody>
      </p:sp>
      <p:sp>
        <p:nvSpPr>
          <p:cNvPr id="35" name="Text 24"/>
          <p:cNvSpPr/>
          <p:nvPr/>
        </p:nvSpPr>
        <p:spPr>
          <a:xfrm>
            <a:off x="496119" y="590669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Flowchart highlights the layered analysis approach that increases depth and specificity of recommendations.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35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&amp; Cleaning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35782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229990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 fields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324796" y="1593205"/>
            <a:ext cx="432777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Restaurant name, City, Cuisine(s)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Rating, Votes, Price range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Online delivery, Table booking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Latitude &amp; Longitude (geo mapping)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324796" y="2790899"/>
            <a:ext cx="43277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Cleaning steps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96119" y="3425577"/>
            <a:ext cx="1931566" cy="1308571"/>
          </a:xfrm>
          <a:prstGeom prst="roundRect">
            <a:avLst>
              <a:gd name="adj" fmla="val 1625"/>
            </a:avLst>
          </a:prstGeom>
          <a:solidFill>
            <a:srgbClr val="EFECE6"/>
          </a:solidFill>
          <a:ln w="19050">
            <a:solidFill>
              <a:srgbClr val="CBC5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927" y="3586386"/>
            <a:ext cx="1609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6927" y="3892897"/>
            <a:ext cx="160994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Imputed or flagged depending on impact (e.g., lat/lon required for maps).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9443" y="3425577"/>
            <a:ext cx="1931640" cy="1308571"/>
          </a:xfrm>
          <a:prstGeom prst="roundRect">
            <a:avLst>
              <a:gd name="adj" fmla="val 1625"/>
            </a:avLst>
          </a:prstGeom>
          <a:solidFill>
            <a:srgbClr val="EFECE6"/>
          </a:solidFill>
          <a:ln w="19050">
            <a:solidFill>
              <a:srgbClr val="CBC5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30252" y="3586386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Duplicates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730252" y="3892897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De-duplicated by name + city + coordinates.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42842" y="3425577"/>
            <a:ext cx="1931640" cy="1308571"/>
          </a:xfrm>
          <a:prstGeom prst="roundRect">
            <a:avLst>
              <a:gd name="adj" fmla="val 1625"/>
            </a:avLst>
          </a:prstGeom>
          <a:solidFill>
            <a:srgbClr val="EFECE6"/>
          </a:solidFill>
          <a:ln w="19050">
            <a:solidFill>
              <a:srgbClr val="CBC5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3651" y="3586386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Type validation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03651" y="3892897"/>
            <a:ext cx="16100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Ratings cast to float, votes to int, price ranges normalised.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16241" y="3425577"/>
            <a:ext cx="1931640" cy="1308571"/>
          </a:xfrm>
          <a:prstGeom prst="roundRect">
            <a:avLst>
              <a:gd name="adj" fmla="val 1625"/>
            </a:avLst>
          </a:prstGeom>
          <a:solidFill>
            <a:srgbClr val="EFECE6"/>
          </a:solidFill>
          <a:ln w="19050">
            <a:solidFill>
              <a:srgbClr val="CBC5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77050" y="3586386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Standardisation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877050" y="3892897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Unified cuisine names and boolean flags for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395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Level 1 — Descriptive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1183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Core tasks: identify top cuisines, city distribution, price-range composition and online-delivery coverage.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39875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03090"/>
            <a:ext cx="2628230" cy="241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North Indian is the most frequent cuisine across dataset (highest share of listings).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New Delhi shows the largest concentration of restaurants in the sample.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Low-cost / budget price tiers dominate listing counts.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Online delivery available for a subset—useful for targeted partnerships.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2561927"/>
            <a:ext cx="549994" cy="687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2162" y="2561927"/>
            <a:ext cx="17729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Top cuisines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202162" y="2925142"/>
            <a:ext cx="177298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Frequency-ranked; useful for menu focus and promotions.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331" y="2561927"/>
            <a:ext cx="549994" cy="687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79506" y="2561927"/>
            <a:ext cx="17730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City distribution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79506" y="2925142"/>
            <a:ext cx="17730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Heatmap highlights urban hotspots for expansion.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003"/>
            <a:ext cx="8151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Level 2 — Segmentation &amp; Geography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75011"/>
            <a:ext cx="3916487" cy="19601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3783" y="2117656"/>
            <a:ext cx="735542" cy="22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Low Metro Density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2015066" y="3068261"/>
            <a:ext cx="880303" cy="11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Low Ratings (3.0–3.9)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3655486" y="2117656"/>
            <a:ext cx="735542" cy="22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 Metro Density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012866" y="1355460"/>
            <a:ext cx="880303" cy="11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 Ratings (4.0–4.5)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593621" y="2636118"/>
            <a:ext cx="755104" cy="16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 Rating, High Concentration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2630423" y="2640030"/>
            <a:ext cx="755104" cy="16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 Rating, Low Concentration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2630423" y="1916225"/>
            <a:ext cx="755104" cy="169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Rating, High Concentration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1570147" y="1916225"/>
            <a:ext cx="755104" cy="169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Rating, Low Concentration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496119" y="3370659"/>
            <a:ext cx="39164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Layered analysis combining ratings, spatial density and unsupervised clustering to reveal operational patterns.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36157" y="1033909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Completed tasks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736157" y="1358503"/>
            <a:ext cx="3916487" cy="1172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Rating analysis — distribution and outlier detection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Cuisine combination patterns — co-occurrence analysis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Geographic analysis — maps and density plots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Restaurant chains detection and market share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K‑Means clustering to segment locations by features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36157" y="265167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736157" y="2976265"/>
            <a:ext cx="3916487" cy="10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Majority of ratings fall between 3.0 and 4.5, suggesting moderate-to-good satisfaction.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Restaurants densely cluster in metropolitan corridors.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Chains exhibit clear geographic footprints — potential for standardisation strategies.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96119" y="4242346"/>
            <a:ext cx="8151763" cy="495077"/>
          </a:xfrm>
          <a:prstGeom prst="roundRect">
            <a:avLst>
              <a:gd name="adj" fmla="val 3960"/>
            </a:avLst>
          </a:prstGeom>
          <a:solidFill>
            <a:srgbClr val="E7E7E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0" y="4429423"/>
            <a:ext cx="163339" cy="13067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20800" y="4395490"/>
            <a:ext cx="805361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Maps and clusters support location strategy and resource allocation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355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Level 3 — Sentiment, Votes &amp; Correlations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6923"/>
            <a:ext cx="5192688" cy="29424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6136" y="1015678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Analytical tasks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6136" y="1318022"/>
            <a:ext cx="2656433" cy="119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Sentiment analysis on review text (NLTK preprocessing, polarity scoring)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Votes analysis — relationship between votes and ratings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Correlation analysis — price range vs rating vs services (table booking, delivery)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6136" y="2618631"/>
            <a:ext cx="2656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6136" y="2920975"/>
            <a:ext cx="2656433" cy="1750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Overall customer sentiment skewed positive; common praise cites food quality and timeliness.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Higher-rated restaurants typically accumulate more votes — a proxy for engagement and visibility.</a:t>
            </a:r>
            <a:endParaRPr lang="en-US" sz="950" dirty="0"/>
          </a:p>
          <a:p>
            <a:pPr algn="l" marL="193040" indent="-19304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Premium price tiers more likely to offer table booking; service options correlate with higher ratings.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483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Business Insights &amp; Recommendations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662708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E5DFD2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80446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Market focus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110978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Prioritise investment in North Indian and other top cuisines for menu optimisation and marketing.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662708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180446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Geographic expansion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110978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underserved high-demand cities identified in maps for new openings or delivery partnerships.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662708"/>
            <a:ext cx="2622724" cy="1270471"/>
          </a:xfrm>
          <a:prstGeom prst="roundRect">
            <a:avLst>
              <a:gd name="adj" fmla="val 1674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180446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Service improvements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110978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Standardise table-booking and delivery workflows; training to improve service quality and ratings.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74938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216697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Digital strategy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523208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Enhance online presence and promotion where delivery take-up is low to increase reach and votes.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74938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3216697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Pricing &amp; consistency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3523208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data-driven pricing and cross-branch consistency checks for chains to protect brand reputation.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626"/>
            <a:ext cx="8151763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 &amp; Skills Demonstrated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496119" y="2188071"/>
            <a:ext cx="2723183" cy="9525"/>
          </a:xfrm>
          <a:prstGeom prst="roundRect">
            <a:avLst>
              <a:gd name="adj" fmla="val 60000"/>
            </a:avLst>
          </a:prstGeom>
          <a:solidFill>
            <a:srgbClr val="4A4A4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2271340"/>
            <a:ext cx="272318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Next steps</a:t>
            </a:r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Prototype targeted campaigns for top cuisines, pilot expansion in two high‑demand cities, and implement A/B tests for digital promotions to measure vote and rating lift.</a:t>
            </a:r>
            <a:endParaRPr lang="en-US" sz="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3940" y="741834"/>
            <a:ext cx="5228630" cy="2962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3940" y="3757985"/>
            <a:ext cx="5228630" cy="249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Thank you — questions?</a:t>
            </a:r>
            <a:endParaRPr lang="en-US" sz="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Contact: Abhinav Kadam • GitHub: github.com/abhinanalyst</a:t>
            </a:r>
            <a:endParaRPr lang="en-US" sz="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03415"/>
            <a:ext cx="204862" cy="2048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4367436"/>
            <a:ext cx="4046265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outcomes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96119" y="4523929"/>
            <a:ext cx="4046265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cleaning, EDA, geographic mapping, sentiment analysis and K‑Means clustering — actionable insights produced.</a:t>
            </a:r>
            <a:endParaRPr lang="en-US" sz="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1542" y="4103415"/>
            <a:ext cx="204862" cy="2048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01542" y="4367436"/>
            <a:ext cx="4046339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Skills learned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4601542" y="4523929"/>
            <a:ext cx="4046339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Python, Pandas, NumPy, Matplotlib/Seaborn, Plotly, Folium, Scikit‑learn, NLTK, WordCloud, reproducible notebooks and GitHub workflows.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2026-07-14T17:26:25Z</dcterms:created>
  <dcterms:modified xsi:type="dcterms:W3CDTF">2026-07-14T17:26:25Z</dcterms:modified>
</cp:coreProperties>
</file>